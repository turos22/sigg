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Plus Jakarta Sans"/>
      <p:regular r:id="rId23"/>
      <p:bold r:id="rId24"/>
      <p:italic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lusJakartaSans-bold.fntdata"/><Relationship Id="rId23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-boldItalic.fntdata"/><Relationship Id="rId25" Type="http://schemas.openxmlformats.org/officeDocument/2006/relationships/font" Target="fonts/PlusJakartaSans-italic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Lato-regular.fntdata"/><Relationship Id="rId1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a8b85a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aa8b85a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aa8b85a87_4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aa8b85a87_4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aa8b85a87_4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aa8b85a87_4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aa8b85a87_4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aa8b85a87_4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aa8b85a87_4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aa8b85a87_4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aa8b85a87_4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aa8b85a87_4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aa8b85a87_4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aa8b85a87_4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b680e4fa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b680e4fa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289450" y="1496225"/>
            <a:ext cx="52728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Desfazendo Mudanças e Conectando ao Github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6274750" y="3887525"/>
            <a:ext cx="2721000" cy="10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Arthur Shirasaki Orosco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Guilherme Augusto Viani Guimarães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Felipe Lima Santos</a:t>
            </a:r>
            <a:endParaRPr sz="4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Matheus Figueiredo de Mello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052550" y="4048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Desfazendo alterações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CONTROLE DE ESTADO</a:t>
            </a:r>
            <a:endParaRPr sz="1100"/>
          </a:p>
        </p:txBody>
      </p:sp>
      <p:sp>
        <p:nvSpPr>
          <p:cNvPr id="141" name="Google Shape;141;p14"/>
          <p:cNvSpPr/>
          <p:nvPr/>
        </p:nvSpPr>
        <p:spPr>
          <a:xfrm>
            <a:off x="1065100" y="1647825"/>
            <a:ext cx="3410400" cy="3064200"/>
          </a:xfrm>
          <a:prstGeom prst="roundRect">
            <a:avLst>
              <a:gd fmla="val 3168" name="adj"/>
            </a:avLst>
          </a:prstGeom>
          <a:solidFill>
            <a:schemeClr val="dk1"/>
          </a:solidFill>
          <a:ln cap="flat" cmpd="sng" w="6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125" lIns="58250" spcFirstLastPara="1" rIns="58250" wrap="square" tIns="29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1265343" y="3525674"/>
            <a:ext cx="3009900" cy="2670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125" lIns="58250" spcFirstLastPara="1" rIns="58250" wrap="square" tIns="29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5343" y="2192101"/>
            <a:ext cx="291262" cy="291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5464" y="2277052"/>
            <a:ext cx="91019" cy="121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1265343" y="2714696"/>
            <a:ext cx="39504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51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Modificações não salvas</a:t>
            </a:r>
            <a:endParaRPr sz="1092">
              <a:solidFill>
                <a:schemeClr val="lt1"/>
              </a:solidFill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1265218" y="2987764"/>
            <a:ext cx="3070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60" u="none" cap="none" strike="noStrik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Reverte arquivos modificados no diretório de trabalho para o último estado confirmado.</a:t>
            </a:r>
            <a:endParaRPr sz="992">
              <a:solidFill>
                <a:srgbClr val="B7B7B7"/>
              </a:solidFill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362430" y="3598489"/>
            <a:ext cx="2876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17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restore</a:t>
            </a:r>
            <a:endParaRPr sz="992"/>
          </a:p>
        </p:txBody>
      </p:sp>
      <p:sp>
        <p:nvSpPr>
          <p:cNvPr id="148" name="Google Shape;148;p14"/>
          <p:cNvSpPr/>
          <p:nvPr/>
        </p:nvSpPr>
        <p:spPr>
          <a:xfrm>
            <a:off x="4712086" y="1647825"/>
            <a:ext cx="3410100" cy="3064200"/>
          </a:xfrm>
          <a:prstGeom prst="roundRect">
            <a:avLst>
              <a:gd fmla="val 3168" name="adj"/>
            </a:avLst>
          </a:prstGeom>
          <a:solidFill>
            <a:schemeClr val="dk1"/>
          </a:solidFill>
          <a:ln cap="flat" cmpd="sng" w="6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100" lIns="58250" spcFirstLastPara="1" rIns="58250" wrap="square" tIns="29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4912317" y="3525683"/>
            <a:ext cx="3009600" cy="2670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100" lIns="58250" spcFirstLastPara="1" rIns="58250" wrap="square" tIns="29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2317" y="2192101"/>
            <a:ext cx="291246" cy="2912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7264" y="2277048"/>
            <a:ext cx="121352" cy="121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4"/>
          <p:cNvSpPr txBox="1"/>
          <p:nvPr/>
        </p:nvSpPr>
        <p:spPr>
          <a:xfrm>
            <a:off x="4912317" y="2714698"/>
            <a:ext cx="35982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51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Retirando da Stage Area</a:t>
            </a:r>
            <a:endParaRPr sz="1092">
              <a:solidFill>
                <a:schemeClr val="lt1"/>
              </a:solidFill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4912042" y="2987776"/>
            <a:ext cx="3070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60" u="none" cap="none" strike="noStrik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Remove arquivos da área de preparação (staging) mantendo as alterações locais intactas.</a:t>
            </a:r>
            <a:endParaRPr sz="992">
              <a:solidFill>
                <a:srgbClr val="B7B7B7"/>
              </a:solidFill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5009399" y="3598495"/>
            <a:ext cx="28758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17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restore --staged</a:t>
            </a:r>
            <a:endParaRPr sz="992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type="title"/>
          </p:nvPr>
        </p:nvSpPr>
        <p:spPr>
          <a:xfrm>
            <a:off x="1052550" y="4138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Recuperando versões anteriores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HISTÓRICO DO PROJETO</a:t>
            </a:r>
            <a:endParaRPr sz="1200"/>
          </a:p>
        </p:txBody>
      </p:sp>
      <p:sp>
        <p:nvSpPr>
          <p:cNvPr id="160" name="Google Shape;160;p15"/>
          <p:cNvSpPr/>
          <p:nvPr/>
        </p:nvSpPr>
        <p:spPr>
          <a:xfrm>
            <a:off x="1065100" y="1647825"/>
            <a:ext cx="3475800" cy="3123300"/>
          </a:xfrm>
          <a:prstGeom prst="roundRect">
            <a:avLst>
              <a:gd fmla="val 3168" name="adj"/>
            </a:avLst>
          </a:prstGeom>
          <a:solidFill>
            <a:schemeClr val="dk1"/>
          </a:solidFill>
          <a:ln cap="flat" cmpd="sng" w="6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4812837" y="1647825"/>
            <a:ext cx="3475800" cy="3123300"/>
          </a:xfrm>
          <a:prstGeom prst="roundRect">
            <a:avLst>
              <a:gd fmla="val 3168" name="adj"/>
            </a:avLst>
          </a:prstGeom>
          <a:solidFill>
            <a:schemeClr val="dk1"/>
          </a:solidFill>
          <a:ln cap="flat" cmpd="sng" w="6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1269185" y="3737073"/>
            <a:ext cx="3067500" cy="2718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016922" y="3737073"/>
            <a:ext cx="3067500" cy="2718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4" name="Google Shape;1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9185" y="2192536"/>
            <a:ext cx="296850" cy="296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922" y="2192536"/>
            <a:ext cx="296850" cy="296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5766" y="2279118"/>
            <a:ext cx="123688" cy="123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8042" y="2279118"/>
            <a:ext cx="154609" cy="12368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5"/>
          <p:cNvSpPr txBox="1"/>
          <p:nvPr/>
        </p:nvSpPr>
        <p:spPr>
          <a:xfrm>
            <a:off x="1269185" y="2730576"/>
            <a:ext cx="40260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71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Histórico de Commits</a:t>
            </a:r>
            <a:endParaRPr sz="1109">
              <a:solidFill>
                <a:schemeClr val="lt1"/>
              </a:solidFill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1269185" y="3016027"/>
            <a:ext cx="3129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77" u="none" cap="none" strike="noStrik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Lista todas as alterações gravadas para identificar o código hash (identificador único) da versão desejada.</a:t>
            </a:r>
            <a:endParaRPr sz="1009">
              <a:solidFill>
                <a:srgbClr val="B7B7B7"/>
              </a:solidFill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355785" y="3809085"/>
            <a:ext cx="293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3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log --oneline</a:t>
            </a:r>
            <a:endParaRPr sz="1009"/>
          </a:p>
        </p:txBody>
      </p:sp>
      <p:sp>
        <p:nvSpPr>
          <p:cNvPr id="171" name="Google Shape;171;p15"/>
          <p:cNvSpPr txBox="1"/>
          <p:nvPr/>
        </p:nvSpPr>
        <p:spPr>
          <a:xfrm>
            <a:off x="5016922" y="2730576"/>
            <a:ext cx="3667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71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Retornando a um Commit</a:t>
            </a:r>
            <a:endParaRPr sz="1109">
              <a:solidFill>
                <a:schemeClr val="lt1"/>
              </a:solidFill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5016922" y="3016027"/>
            <a:ext cx="3129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77" u="none" cap="none" strike="noStrik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Descarta permanentemente as modificações posteriores ou cria um novo commit revertendo o erro com segurança.</a:t>
            </a:r>
            <a:endParaRPr sz="1009">
              <a:solidFill>
                <a:srgbClr val="B7B7B7"/>
              </a:solidFill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5103522" y="3809085"/>
            <a:ext cx="293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3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reset --hard / git revert</a:t>
            </a:r>
            <a:endParaRPr sz="100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Conceito de Repositório Remoto</a:t>
            </a:r>
            <a:endParaRPr b="1"/>
          </a:p>
        </p:txBody>
      </p:sp>
      <p:sp>
        <p:nvSpPr>
          <p:cNvPr id="179" name="Google Shape;179;p16"/>
          <p:cNvSpPr/>
          <p:nvPr/>
        </p:nvSpPr>
        <p:spPr>
          <a:xfrm>
            <a:off x="1065100" y="1647825"/>
            <a:ext cx="3475800" cy="3123300"/>
          </a:xfrm>
          <a:prstGeom prst="roundRect">
            <a:avLst>
              <a:gd fmla="val 3168" name="adj"/>
            </a:avLst>
          </a:prstGeom>
          <a:solidFill>
            <a:schemeClr val="dk1"/>
          </a:solidFill>
          <a:ln cap="flat" cmpd="sng" w="6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4812837" y="1647825"/>
            <a:ext cx="3475800" cy="3123300"/>
          </a:xfrm>
          <a:prstGeom prst="roundRect">
            <a:avLst>
              <a:gd fmla="val 3168" name="adj"/>
            </a:avLst>
          </a:prstGeom>
          <a:solidFill>
            <a:schemeClr val="dk1"/>
          </a:solidFill>
          <a:ln cap="flat" cmpd="sng" w="6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1269185" y="3737073"/>
            <a:ext cx="3067500" cy="2718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5016922" y="3737073"/>
            <a:ext cx="3067500" cy="2718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1269185" y="2730576"/>
            <a:ext cx="40260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7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Repositório Local </a:t>
            </a:r>
            <a:endParaRPr sz="1109">
              <a:solidFill>
                <a:schemeClr val="lt1"/>
              </a:solidFill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1269185" y="3016027"/>
            <a:ext cx="3129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77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Cópia do projeto que existe apenas na sua máquina, onde você trabalha e commita as alterações. </a:t>
            </a:r>
            <a:endParaRPr sz="1009">
              <a:solidFill>
                <a:srgbClr val="B7B7B7"/>
              </a:solidFill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1355785" y="3809085"/>
            <a:ext cx="293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init </a:t>
            </a:r>
            <a:endParaRPr sz="1009"/>
          </a:p>
        </p:txBody>
      </p:sp>
      <p:sp>
        <p:nvSpPr>
          <p:cNvPr id="186" name="Google Shape;186;p16"/>
          <p:cNvSpPr txBox="1"/>
          <p:nvPr/>
        </p:nvSpPr>
        <p:spPr>
          <a:xfrm>
            <a:off x="5016922" y="2730576"/>
            <a:ext cx="3667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7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Repositório Remoto </a:t>
            </a:r>
            <a:endParaRPr sz="1109">
              <a:solidFill>
                <a:schemeClr val="lt1"/>
              </a:solidFill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5016922" y="3016027"/>
            <a:ext cx="3129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77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Cópia do projeto hospedada em um servidor (GitHub), acessível pela internet e usada para colaboração e backup. </a:t>
            </a:r>
            <a:endParaRPr sz="1009">
              <a:solidFill>
                <a:srgbClr val="B7B7B7"/>
              </a:solidFill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5103522" y="3809085"/>
            <a:ext cx="293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origin </a:t>
            </a:r>
            <a:endParaRPr sz="1009"/>
          </a:p>
        </p:txBody>
      </p:sp>
      <p:pic>
        <p:nvPicPr>
          <p:cNvPr descr="image.png" id="189" name="Google Shape;1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9185" y="2192536"/>
            <a:ext cx="296850" cy="29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 title="Captura de tela 2026-09-17 131723.png"/>
          <p:cNvPicPr preferRelativeResize="0"/>
          <p:nvPr/>
        </p:nvPicPr>
        <p:blipFill rotWithShape="1">
          <a:blip r:embed="rId4">
            <a:alphaModFix/>
          </a:blip>
          <a:srcRect b="0" l="3934" r="3943" t="0"/>
          <a:stretch/>
        </p:blipFill>
        <p:spPr>
          <a:xfrm>
            <a:off x="1355766" y="2279118"/>
            <a:ext cx="123688" cy="123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922" y="2192536"/>
            <a:ext cx="296850" cy="29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 title="Captura de tela 2026-09-17 131923.png"/>
          <p:cNvPicPr preferRelativeResize="0"/>
          <p:nvPr/>
        </p:nvPicPr>
        <p:blipFill rotWithShape="1">
          <a:blip r:embed="rId5">
            <a:alphaModFix/>
          </a:blip>
          <a:srcRect b="0" l="1143" r="1143" t="0"/>
          <a:stretch/>
        </p:blipFill>
        <p:spPr>
          <a:xfrm>
            <a:off x="5088042" y="2279118"/>
            <a:ext cx="154609" cy="123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Vinculando o Repositório Local ao GitHub </a:t>
            </a:r>
            <a:endParaRPr b="1"/>
          </a:p>
        </p:txBody>
      </p:sp>
      <p:sp>
        <p:nvSpPr>
          <p:cNvPr id="198" name="Google Shape;198;p17"/>
          <p:cNvSpPr/>
          <p:nvPr/>
        </p:nvSpPr>
        <p:spPr>
          <a:xfrm>
            <a:off x="1065100" y="1647825"/>
            <a:ext cx="3475800" cy="3123300"/>
          </a:xfrm>
          <a:prstGeom prst="roundRect">
            <a:avLst>
              <a:gd fmla="val 3168" name="adj"/>
            </a:avLst>
          </a:prstGeom>
          <a:solidFill>
            <a:schemeClr val="dk1"/>
          </a:solidFill>
          <a:ln cap="flat" cmpd="sng" w="6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4812837" y="1647825"/>
            <a:ext cx="3475800" cy="3123300"/>
          </a:xfrm>
          <a:prstGeom prst="roundRect">
            <a:avLst>
              <a:gd fmla="val 3168" name="adj"/>
            </a:avLst>
          </a:prstGeom>
          <a:solidFill>
            <a:schemeClr val="dk1"/>
          </a:solidFill>
          <a:ln cap="flat" cmpd="sng" w="6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1269185" y="3737073"/>
            <a:ext cx="3067500" cy="2718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5016922" y="3737073"/>
            <a:ext cx="3067500" cy="2718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1269185" y="2730576"/>
            <a:ext cx="40260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7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Adicionando o Remoto </a:t>
            </a:r>
            <a:endParaRPr sz="1109">
              <a:solidFill>
                <a:schemeClr val="lt1"/>
              </a:solidFill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1269185" y="3016027"/>
            <a:ext cx="3129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77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Cria a conexão entre o repositório local e o repositório criado no GitHub, usando "origin" como apelido padrão. </a:t>
            </a:r>
            <a:endParaRPr sz="1009">
              <a:solidFill>
                <a:srgbClr val="B7B7B7"/>
              </a:solidFill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1355785" y="3809085"/>
            <a:ext cx="293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remote add origin &lt;URL&gt; </a:t>
            </a:r>
            <a:endParaRPr sz="1009"/>
          </a:p>
        </p:txBody>
      </p:sp>
      <p:sp>
        <p:nvSpPr>
          <p:cNvPr id="205" name="Google Shape;205;p17"/>
          <p:cNvSpPr txBox="1"/>
          <p:nvPr/>
        </p:nvSpPr>
        <p:spPr>
          <a:xfrm>
            <a:off x="5016922" y="2730576"/>
            <a:ext cx="3667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7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Enviando o Código </a:t>
            </a:r>
            <a:endParaRPr sz="1109">
              <a:solidFill>
                <a:schemeClr val="lt1"/>
              </a:solidFill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5016922" y="3016027"/>
            <a:ext cx="3129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77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Envia os commits locais para o repositório remoto pela primeira vez, criando o vínculo de rastreamento. </a:t>
            </a:r>
            <a:endParaRPr sz="1009">
              <a:solidFill>
                <a:srgbClr val="B7B7B7"/>
              </a:solidFill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5103522" y="3809085"/>
            <a:ext cx="293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push -u origin main </a:t>
            </a:r>
            <a:endParaRPr sz="1009"/>
          </a:p>
        </p:txBody>
      </p:sp>
      <p:pic>
        <p:nvPicPr>
          <p:cNvPr descr="image.png" id="208" name="Google Shape;2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9185" y="2192536"/>
            <a:ext cx="296850" cy="29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title="Captura de tela 2026-09-17 132057.png"/>
          <p:cNvPicPr preferRelativeResize="0"/>
          <p:nvPr/>
        </p:nvPicPr>
        <p:blipFill rotWithShape="1">
          <a:blip r:embed="rId4">
            <a:alphaModFix/>
          </a:blip>
          <a:srcRect b="0" l="5261" r="5261" t="0"/>
          <a:stretch/>
        </p:blipFill>
        <p:spPr>
          <a:xfrm>
            <a:off x="1355766" y="2279118"/>
            <a:ext cx="123688" cy="123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922" y="2192536"/>
            <a:ext cx="296850" cy="29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7" title="Captura de tela 2026-09-17 132102.png"/>
          <p:cNvPicPr preferRelativeResize="0"/>
          <p:nvPr/>
        </p:nvPicPr>
        <p:blipFill rotWithShape="1">
          <a:blip r:embed="rId5">
            <a:alphaModFix/>
          </a:blip>
          <a:srcRect b="6179" l="0" r="0" t="6171"/>
          <a:stretch/>
        </p:blipFill>
        <p:spPr>
          <a:xfrm>
            <a:off x="5088042" y="2279118"/>
            <a:ext cx="154609" cy="123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Verificando Repositório remoto</a:t>
            </a:r>
            <a:endParaRPr b="1"/>
          </a:p>
        </p:txBody>
      </p:sp>
      <p:sp>
        <p:nvSpPr>
          <p:cNvPr id="217" name="Google Shape;217;p18"/>
          <p:cNvSpPr/>
          <p:nvPr/>
        </p:nvSpPr>
        <p:spPr>
          <a:xfrm>
            <a:off x="1065100" y="1647825"/>
            <a:ext cx="3475800" cy="3123300"/>
          </a:xfrm>
          <a:prstGeom prst="roundRect">
            <a:avLst>
              <a:gd fmla="val 3168" name="adj"/>
            </a:avLst>
          </a:prstGeom>
          <a:solidFill>
            <a:schemeClr val="dk1"/>
          </a:solidFill>
          <a:ln cap="flat" cmpd="sng" w="6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4812837" y="1647825"/>
            <a:ext cx="3475800" cy="3123300"/>
          </a:xfrm>
          <a:prstGeom prst="roundRect">
            <a:avLst>
              <a:gd fmla="val 3168" name="adj"/>
            </a:avLst>
          </a:prstGeom>
          <a:solidFill>
            <a:schemeClr val="dk1"/>
          </a:solidFill>
          <a:ln cap="flat" cmpd="sng" w="6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1269185" y="3737073"/>
            <a:ext cx="3067500" cy="2718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5016922" y="3737073"/>
            <a:ext cx="3067500" cy="2718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1269185" y="2730576"/>
            <a:ext cx="40260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7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Listando os Remotos </a:t>
            </a:r>
            <a:endParaRPr sz="1109">
              <a:solidFill>
                <a:schemeClr val="lt1"/>
              </a:solidFill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1269185" y="3016027"/>
            <a:ext cx="3129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77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Exibe os repositórios remotos vinculados, mostrando os endereços de fetch e push. </a:t>
            </a:r>
            <a:endParaRPr sz="1009">
              <a:solidFill>
                <a:srgbClr val="B7B7B7"/>
              </a:solidFill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1355785" y="3809085"/>
            <a:ext cx="293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remote -v </a:t>
            </a:r>
            <a:endParaRPr sz="1009"/>
          </a:p>
        </p:txBody>
      </p:sp>
      <p:sp>
        <p:nvSpPr>
          <p:cNvPr id="224" name="Google Shape;224;p18"/>
          <p:cNvSpPr txBox="1"/>
          <p:nvPr/>
        </p:nvSpPr>
        <p:spPr>
          <a:xfrm>
            <a:off x="5016922" y="2730576"/>
            <a:ext cx="3667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7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Removendo um Remoto </a:t>
            </a:r>
            <a:endParaRPr sz="1109">
              <a:solidFill>
                <a:schemeClr val="lt1"/>
              </a:solidFill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5016922" y="3016027"/>
            <a:ext cx="3129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77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Desfaz a vinculação com um repositório remoto, caso tenha sido configurado com a URL errada. </a:t>
            </a:r>
            <a:endParaRPr sz="1009">
              <a:solidFill>
                <a:srgbClr val="B7B7B7"/>
              </a:solidFill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5103522" y="3809085"/>
            <a:ext cx="293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remote remove origin </a:t>
            </a:r>
            <a:endParaRPr sz="1009"/>
          </a:p>
        </p:txBody>
      </p:sp>
      <p:pic>
        <p:nvPicPr>
          <p:cNvPr descr="image.png" id="227" name="Google Shape;2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9185" y="2192536"/>
            <a:ext cx="296850" cy="29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8" title="Captura de tela 2026-09-17 132106.png"/>
          <p:cNvPicPr preferRelativeResize="0"/>
          <p:nvPr/>
        </p:nvPicPr>
        <p:blipFill rotWithShape="1">
          <a:blip r:embed="rId4">
            <a:alphaModFix/>
          </a:blip>
          <a:srcRect b="0" l="5317" r="5317" t="0"/>
          <a:stretch/>
        </p:blipFill>
        <p:spPr>
          <a:xfrm>
            <a:off x="1355766" y="2279118"/>
            <a:ext cx="123688" cy="123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922" y="2192536"/>
            <a:ext cx="296850" cy="29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8" title="Captura de tela 2026-09-17 132110.png"/>
          <p:cNvPicPr preferRelativeResize="0"/>
          <p:nvPr/>
        </p:nvPicPr>
        <p:blipFill rotWithShape="1">
          <a:blip r:embed="rId5">
            <a:alphaModFix/>
          </a:blip>
          <a:srcRect b="10944" l="0" r="0" t="10944"/>
          <a:stretch/>
        </p:blipFill>
        <p:spPr>
          <a:xfrm>
            <a:off x="5088042" y="2279118"/>
            <a:ext cx="154609" cy="123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Prática</a:t>
            </a:r>
            <a:endParaRPr b="1"/>
          </a:p>
        </p:txBody>
      </p:sp>
      <p:sp>
        <p:nvSpPr>
          <p:cNvPr id="236" name="Google Shape;236;p19"/>
          <p:cNvSpPr/>
          <p:nvPr/>
        </p:nvSpPr>
        <p:spPr>
          <a:xfrm>
            <a:off x="2890350" y="1647825"/>
            <a:ext cx="3853200" cy="3123300"/>
          </a:xfrm>
          <a:prstGeom prst="roundRect">
            <a:avLst>
              <a:gd fmla="val 3168" name="adj"/>
            </a:avLst>
          </a:prstGeom>
          <a:solidFill>
            <a:schemeClr val="dk1"/>
          </a:solidFill>
          <a:ln cap="flat" cmpd="sng" w="6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3094430" y="3737075"/>
            <a:ext cx="1499400" cy="2718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3094427" y="2723250"/>
            <a:ext cx="31296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7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Conectar ao GitHub </a:t>
            </a:r>
            <a:endParaRPr sz="1109">
              <a:solidFill>
                <a:schemeClr val="lt1"/>
              </a:solidFill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3094435" y="3016027"/>
            <a:ext cx="3129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77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Criar um repositório vazio no GitHub, vincular o projeto local e enviar o código pela primeira vez. </a:t>
            </a:r>
            <a:endParaRPr sz="1009">
              <a:solidFill>
                <a:srgbClr val="B7B7B7"/>
              </a:solidFill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3181030" y="3809075"/>
            <a:ext cx="14127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remote add origin </a:t>
            </a:r>
            <a:endParaRPr sz="1009"/>
          </a:p>
        </p:txBody>
      </p:sp>
      <p:sp>
        <p:nvSpPr>
          <p:cNvPr id="241" name="Google Shape;241;p19"/>
          <p:cNvSpPr/>
          <p:nvPr/>
        </p:nvSpPr>
        <p:spPr>
          <a:xfrm>
            <a:off x="4630129" y="3737075"/>
            <a:ext cx="253800" cy="2718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4680075" y="3809075"/>
            <a:ext cx="1539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-&gt;</a:t>
            </a:r>
            <a:endParaRPr sz="1009">
              <a:solidFill>
                <a:schemeClr val="lt1"/>
              </a:solidFill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4920225" y="3737075"/>
            <a:ext cx="1618800" cy="2718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5006824" y="3809075"/>
            <a:ext cx="16188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push -u origin main </a:t>
            </a:r>
            <a:endParaRPr sz="1009"/>
          </a:p>
        </p:txBody>
      </p:sp>
      <p:pic>
        <p:nvPicPr>
          <p:cNvPr descr="image.png" id="245" name="Google Shape;2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4435" y="2192536"/>
            <a:ext cx="296850" cy="29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9" title="Captura de tela 2026-09-17 132117.png"/>
          <p:cNvPicPr preferRelativeResize="0"/>
          <p:nvPr/>
        </p:nvPicPr>
        <p:blipFill rotWithShape="1">
          <a:blip r:embed="rId4">
            <a:alphaModFix/>
          </a:blip>
          <a:srcRect b="0" l="3166" r="3175" t="0"/>
          <a:stretch/>
        </p:blipFill>
        <p:spPr>
          <a:xfrm>
            <a:off x="3181016" y="2279118"/>
            <a:ext cx="123688" cy="12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Prática</a:t>
            </a:r>
            <a:endParaRPr b="1"/>
          </a:p>
        </p:txBody>
      </p:sp>
      <p:sp>
        <p:nvSpPr>
          <p:cNvPr id="252" name="Google Shape;252;p20"/>
          <p:cNvSpPr/>
          <p:nvPr/>
        </p:nvSpPr>
        <p:spPr>
          <a:xfrm>
            <a:off x="2890350" y="1647825"/>
            <a:ext cx="3853200" cy="3123300"/>
          </a:xfrm>
          <a:prstGeom prst="roundRect">
            <a:avLst>
              <a:gd fmla="val 3168" name="adj"/>
            </a:avLst>
          </a:prstGeom>
          <a:solidFill>
            <a:schemeClr val="dk1"/>
          </a:solidFill>
          <a:ln cap="flat" cmpd="sng" w="6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3094425" y="3737075"/>
            <a:ext cx="1651800" cy="2718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3094427" y="2723250"/>
            <a:ext cx="31296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7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Desfazer e Restaurar </a:t>
            </a:r>
            <a:endParaRPr sz="1109">
              <a:solidFill>
                <a:schemeClr val="lt1"/>
              </a:solidFill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3094435" y="3016027"/>
            <a:ext cx="3129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77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Editar um arquivo, rodar                                     desfazer a alteração e restaurar uma versão anterior do histórico. </a:t>
            </a:r>
            <a:endParaRPr sz="977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3181024" y="3809075"/>
            <a:ext cx="15651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checkout -- arquivo </a:t>
            </a:r>
            <a:endParaRPr sz="1009"/>
          </a:p>
        </p:txBody>
      </p:sp>
      <p:sp>
        <p:nvSpPr>
          <p:cNvPr id="257" name="Google Shape;257;p20"/>
          <p:cNvSpPr/>
          <p:nvPr/>
        </p:nvSpPr>
        <p:spPr>
          <a:xfrm>
            <a:off x="4516850" y="2964200"/>
            <a:ext cx="719100" cy="27180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553450" y="3036200"/>
            <a:ext cx="6459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 status</a:t>
            </a:r>
            <a:endParaRPr sz="1009"/>
          </a:p>
        </p:txBody>
      </p:sp>
      <p:pic>
        <p:nvPicPr>
          <p:cNvPr descr="image.png" id="259" name="Google Shape;2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4435" y="2161361"/>
            <a:ext cx="296850" cy="29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 title="Captura de tela 2026-09-17 132542.png"/>
          <p:cNvPicPr preferRelativeResize="0"/>
          <p:nvPr/>
        </p:nvPicPr>
        <p:blipFill rotWithShape="1">
          <a:blip r:embed="rId4">
            <a:alphaModFix/>
          </a:blip>
          <a:srcRect b="446" l="0" r="0" t="456"/>
          <a:stretch/>
        </p:blipFill>
        <p:spPr>
          <a:xfrm>
            <a:off x="3181016" y="2247943"/>
            <a:ext cx="123688" cy="12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Resumo / Conclusão </a:t>
            </a:r>
            <a:endParaRPr b="1"/>
          </a:p>
        </p:txBody>
      </p:sp>
      <p:sp>
        <p:nvSpPr>
          <p:cNvPr id="266" name="Google Shape;266;p21"/>
          <p:cNvSpPr/>
          <p:nvPr/>
        </p:nvSpPr>
        <p:spPr>
          <a:xfrm>
            <a:off x="2890350" y="1647825"/>
            <a:ext cx="3853200" cy="3123300"/>
          </a:xfrm>
          <a:prstGeom prst="roundRect">
            <a:avLst>
              <a:gd fmla="val 3168" name="adj"/>
            </a:avLst>
          </a:prstGeom>
          <a:solidFill>
            <a:schemeClr val="dk1"/>
          </a:solidFill>
          <a:ln cap="flat" cmpd="sng" w="6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75" lIns="59350" spcFirstLastPara="1" rIns="59350" wrap="square" tIns="29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3252160" y="2529077"/>
            <a:ext cx="31296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671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9"/>
              <a:buChar char="●"/>
            </a:pPr>
            <a:r>
              <a:rPr lang="pt-BR" sz="977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Git permite desfazer erros e recuperar versões antigas com segurança </a:t>
            </a:r>
            <a:endParaRPr sz="977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61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977"/>
              <a:buFont typeface="Plus Jakarta Sans"/>
              <a:buChar char="●"/>
            </a:pPr>
            <a:r>
              <a:rPr lang="pt-BR" sz="977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repositório remoto amplia o projeto para colaboração e backup </a:t>
            </a:r>
            <a:endParaRPr sz="977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061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977"/>
              <a:buFont typeface="Plus Jakarta Sans"/>
              <a:buChar char="●"/>
            </a:pPr>
            <a:r>
              <a:rPr lang="pt-BR" sz="977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Conectar local + remoto é a base para trabalhar em equipe no GitHub </a:t>
            </a:r>
            <a:endParaRPr sz="977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